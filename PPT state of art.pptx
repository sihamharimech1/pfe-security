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-914400" y="3840480"/>
            <a:ext cx="2560320" cy="256032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1D4ED8"/>
                </a:solidFill>
              </a:rPr>
              <a:t>ÉTAT DE L'ART — SÉCURITÉ DES AGENTS INTELLIGENTS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Problématique,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&amp; Perspectives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HARIMECH SIHAM  ·  Master ISI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Encadré par : Pr. S. Jai Andaloussi  ·  Pr. L. Fetjah  ·  Pr. M. Errais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PROBLÉMATIQUE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34747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3474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✦  L'Opportunité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737360"/>
            <a:ext cx="3200400" cy="566928"/>
          </a:xfrm>
          <a:prstGeom prst="rect">
            <a:avLst/>
          </a:prstGeom>
          <a:solidFill>
            <a:srgbClr val="1A2E3B"/>
          </a:solidFill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640080" y="177393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Marché IA agentique : &gt;$47Mrd d'ici 2028 (+44% CAGR)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395728"/>
            <a:ext cx="3200400" cy="566928"/>
          </a:xfrm>
          <a:prstGeom prst="rect">
            <a:avLst/>
          </a:prstGeom>
          <a:solidFill>
            <a:srgbClr val="172535"/>
          </a:solidFill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8"/>
          <p:cNvSpPr/>
          <p:nvPr/>
        </p:nvSpPr>
        <p:spPr>
          <a:xfrm>
            <a:off x="640080" y="243230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12% des architectures primaires en 2024 vs 0% en 2023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054096"/>
            <a:ext cx="3200400" cy="566928"/>
          </a:xfrm>
          <a:prstGeom prst="rect">
            <a:avLst/>
          </a:prstGeom>
          <a:solidFill>
            <a:srgbClr val="1A2E3B"/>
          </a:solidFill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0"/>
          <p:cNvSpPr/>
          <p:nvPr/>
        </p:nvSpPr>
        <p:spPr>
          <a:xfrm>
            <a:off x="640080" y="30906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Agents capables de percevoir, planifier, agir de façon autonome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712464"/>
            <a:ext cx="3200400" cy="566928"/>
          </a:xfrm>
          <a:prstGeom prst="rect">
            <a:avLst/>
          </a:prstGeom>
          <a:solidFill>
            <a:srgbClr val="172535"/>
          </a:solidFill>
          <a:ln w="635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640080" y="374904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Automatisation de tâches complexes en cybersécurité, santé, finance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97764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MAIS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03520" y="1188720"/>
            <a:ext cx="34747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8"/>
          <p:cNvSpPr/>
          <p:nvPr/>
        </p:nvSpPr>
        <p:spPr>
          <a:xfrm>
            <a:off x="5303520" y="1188720"/>
            <a:ext cx="34747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19"/>
          <p:cNvSpPr/>
          <p:nvPr/>
        </p:nvSpPr>
        <p:spPr>
          <a:xfrm>
            <a:off x="5440680" y="1188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Le Risque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40680" y="1737360"/>
            <a:ext cx="3200400" cy="566928"/>
          </a:xfrm>
          <a:prstGeom prst="rect">
            <a:avLst/>
          </a:prstGeom>
          <a:solidFill>
            <a:srgbClr val="2A1818"/>
          </a:solidFill>
          <a:ln w="6350">
            <a:solidFill>
              <a:srgbClr val="3D1A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/>
          <p:nvPr/>
        </p:nvSpPr>
        <p:spPr>
          <a:xfrm>
            <a:off x="5577840" y="177393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Surface d'attaque élargie à chaque agent, canal, outil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40680" y="2395728"/>
            <a:ext cx="3200400" cy="566928"/>
          </a:xfrm>
          <a:prstGeom prst="rect">
            <a:avLst/>
          </a:prstGeom>
          <a:solidFill>
            <a:srgbClr val="231313"/>
          </a:solidFill>
          <a:ln w="6350">
            <a:solidFill>
              <a:srgbClr val="3D1A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3"/>
          <p:cNvSpPr/>
          <p:nvPr/>
        </p:nvSpPr>
        <p:spPr>
          <a:xfrm>
            <a:off x="5577840" y="243230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Injection de prompt : taux de succès 20–30% sans défense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40680" y="3054096"/>
            <a:ext cx="3200400" cy="566928"/>
          </a:xfrm>
          <a:prstGeom prst="rect">
            <a:avLst/>
          </a:prstGeom>
          <a:solidFill>
            <a:srgbClr val="2A1818"/>
          </a:solidFill>
          <a:ln w="6350">
            <a:solidFill>
              <a:srgbClr val="3D1A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5"/>
          <p:cNvSpPr/>
          <p:nvPr/>
        </p:nvSpPr>
        <p:spPr>
          <a:xfrm>
            <a:off x="5577840" y="30906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Excès d'agence : actions hors périmètre sans supervision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40680" y="3712464"/>
            <a:ext cx="3200400" cy="566928"/>
          </a:xfrm>
          <a:prstGeom prst="rect">
            <a:avLst/>
          </a:prstGeom>
          <a:solidFill>
            <a:srgbClr val="231313"/>
          </a:solidFill>
          <a:ln w="6350">
            <a:solidFill>
              <a:srgbClr val="3D1A1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7"/>
          <p:cNvSpPr/>
          <p:nvPr/>
        </p:nvSpPr>
        <p:spPr>
          <a:xfrm>
            <a:off x="5577840" y="374904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Seuls 29% des organisations prêtes à sécuriser l'IA agentique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SOLUTIONS EXISTANTES DANS LA LITTÉRATURE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4206240" cy="1783080"/>
          </a:xfrm>
          <a:prstGeom prst="rect">
            <a:avLst/>
          </a:prstGeom>
          <a:solidFill>
            <a:srgbClr val="0D1526"/>
          </a:solidFill>
          <a:ln w="15240">
            <a:solidFill>
              <a:srgbClr val="1D4E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50292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Contrôle d'Accès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188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</a:rPr>
              <a:t>DAC / MAC / ABAC / RBAC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2920" y="154533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Modèles formalisés (NIST, 1992) régissant « qui fait quoi sur quoi ». RBAC est le standard d'entreprise le plus déployé grâce à son auditabilité et sa simplicité.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[Ferraiolo &amp; Kuhn, 1992]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46320" y="1143000"/>
            <a:ext cx="4206240" cy="1783080"/>
          </a:xfrm>
          <a:prstGeom prst="rect">
            <a:avLst/>
          </a:prstGeom>
          <a:solidFill>
            <a:srgbClr val="0D1526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Shape 9"/>
          <p:cNvSpPr/>
          <p:nvPr/>
        </p:nvSpPr>
        <p:spPr>
          <a:xfrm>
            <a:off x="4846320" y="114300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0"/>
          <p:cNvSpPr/>
          <p:nvPr/>
        </p:nvSpPr>
        <p:spPr>
          <a:xfrm>
            <a:off x="4983480" y="1143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by Design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55280" y="1188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</a:rPr>
              <a:t>NIST AI RMF · ISO 42001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983480" y="154533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Intégrer la sécurité dès la conception : principe du moindre privilège, journalisation exhaustive, gestion des risques avant le code.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83480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3AED"/>
                </a:solidFill>
              </a:rPr>
              <a:t>[NIST, 2023 · ISO/IEC, 2023]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3081528"/>
            <a:ext cx="4206240" cy="1783080"/>
          </a:xfrm>
          <a:prstGeom prst="rect">
            <a:avLst/>
          </a:prstGeom>
          <a:solidFill>
            <a:srgbClr val="0D1526"/>
          </a:solidFill>
          <a:ln w="1524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Shape 15"/>
          <p:cNvSpPr/>
          <p:nvPr/>
        </p:nvSpPr>
        <p:spPr>
          <a:xfrm>
            <a:off x="365760" y="3081528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6"/>
          <p:cNvSpPr/>
          <p:nvPr/>
        </p:nvSpPr>
        <p:spPr>
          <a:xfrm>
            <a:off x="502920" y="30815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Défenses Anti-Injection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74720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</a:rPr>
              <a:t>Filtrage · Sandboxing · Multi-agents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02920" y="34838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Filtres de prompts, isolation d'exécution, vérification croisée multi-agents. Mais 12 défenses publiées contournées à &gt;90% par des attaques adaptatives.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45902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</a:rPr>
              <a:t>[Nasr et al., 2025 · Liu et al., 2025]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3081528"/>
            <a:ext cx="4206240" cy="1783080"/>
          </a:xfrm>
          <a:prstGeom prst="rect">
            <a:avLst/>
          </a:prstGeom>
          <a:solidFill>
            <a:srgbClr val="0D1526"/>
          </a:solidFill>
          <a:ln w="1524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4" name="Shape 21"/>
          <p:cNvSpPr/>
          <p:nvPr/>
        </p:nvSpPr>
        <p:spPr>
          <a:xfrm>
            <a:off x="4846320" y="3081528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2"/>
          <p:cNvSpPr/>
          <p:nvPr/>
        </p:nvSpPr>
        <p:spPr>
          <a:xfrm>
            <a:off x="4983480" y="30815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Détection d'Anomalies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955280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</a:rPr>
              <a:t>Règles statiques · ML (Isolation Forests)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983480" y="34838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Surveillance comportementale en temps réel : fréquences, patterns d'actions, incohérences de rôle. Approches ML en émergence pour les patterns subtils.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983480" y="45902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59669"/>
                </a:solidFill>
              </a:rPr>
              <a:t>[Ahmad et al., 2025]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LIMITES DES SOLUTIONS EXISTANTES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4"/>
          <p:cNvSpPr/>
          <p:nvPr/>
        </p:nvSpPr>
        <p:spPr>
          <a:xfrm>
            <a:off x="548640" y="12618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548640" y="12618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Contrôle d'accès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103120" y="1152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RBAC seul manque de contexte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103120" y="144475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Aucune contrainte temporelle, géographique ou comportementale. Un agent compromis conserve ses droits tant qu'il n'est pas manuellement désactivé.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818120" y="128016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7818120" y="1280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Haut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1883664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4" name="Shape 11"/>
          <p:cNvSpPr/>
          <p:nvPr/>
        </p:nvSpPr>
        <p:spPr>
          <a:xfrm>
            <a:off x="365760" y="1883664"/>
            <a:ext cx="7315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548640" y="2048256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548640" y="2048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Défenses anti-injection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03120" y="19385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Contournables à &gt;90% par attaques adaptatives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103120" y="223113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Étude OpenAI/Anthropic/DeepMind (oct. 2025) : 12 défenses publiées échouent face à des attaquants suffisamment déterminés. Problème ouvert.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818120" y="2066544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7"/>
          <p:cNvSpPr/>
          <p:nvPr/>
        </p:nvSpPr>
        <p:spPr>
          <a:xfrm>
            <a:off x="7818120" y="20665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Critique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670048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Shape 19"/>
          <p:cNvSpPr/>
          <p:nvPr/>
        </p:nvSpPr>
        <p:spPr>
          <a:xfrm>
            <a:off x="365760" y="2670048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0"/>
          <p:cNvSpPr/>
          <p:nvPr/>
        </p:nvSpPr>
        <p:spPr>
          <a:xfrm>
            <a:off x="548640" y="28346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/>
          <p:nvPr/>
        </p:nvSpPr>
        <p:spPr>
          <a:xfrm>
            <a:off x="548640" y="28346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Détection d'anomalies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103120" y="27249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Règles statiques aveugles aux patterns subtils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2103120" y="301752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Les règles seuil (fréquence, mots-clés) génèrent des faux positifs et ratent les comportements déviants progressifs ou distribués entre agents.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818120" y="2852928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5"/>
          <p:cNvSpPr/>
          <p:nvPr/>
        </p:nvSpPr>
        <p:spPr>
          <a:xfrm>
            <a:off x="7818120" y="28529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Moyen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0" name="Shape 27"/>
          <p:cNvSpPr/>
          <p:nvPr/>
        </p:nvSpPr>
        <p:spPr>
          <a:xfrm>
            <a:off x="365760" y="3456432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Shape 28"/>
          <p:cNvSpPr/>
          <p:nvPr/>
        </p:nvSpPr>
        <p:spPr>
          <a:xfrm>
            <a:off x="548640" y="3621024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29"/>
          <p:cNvSpPr/>
          <p:nvPr/>
        </p:nvSpPr>
        <p:spPr>
          <a:xfrm>
            <a:off x="548640" y="36210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Supervision des SMA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103120" y="35112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Confiance inter-agents implicite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2103120" y="380390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Les frameworks existants (CrewAI, AutoGen) ne prévoient pas de mécanisme d'authentification des messages entre agents. Vecteur d'injection agent-to-agent.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18120" y="3639312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Text 33"/>
          <p:cNvSpPr/>
          <p:nvPr/>
        </p:nvSpPr>
        <p:spPr>
          <a:xfrm>
            <a:off x="7818120" y="36393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Haut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65760" y="4242816"/>
            <a:ext cx="8412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8" name="Shape 35"/>
          <p:cNvSpPr/>
          <p:nvPr/>
        </p:nvSpPr>
        <p:spPr>
          <a:xfrm>
            <a:off x="365760" y="4242816"/>
            <a:ext cx="7315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Shape 36"/>
          <p:cNvSpPr/>
          <p:nvPr/>
        </p:nvSpPr>
        <p:spPr>
          <a:xfrm>
            <a:off x="548640" y="4407408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0" name="Text 37"/>
          <p:cNvSpPr/>
          <p:nvPr/>
        </p:nvSpPr>
        <p:spPr>
          <a:xfrm>
            <a:off x="548640" y="44074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Déploiement industrie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2103120" y="4297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Security by Design peu adoptée en pratique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2103120" y="459028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Cisco (2026) : 29% des orgs prêtes. Les équipes ajoutent la sécurité a posteriori, créant des couches disparates sans cohérence architecturale.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818120" y="4425696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4" name="Text 41"/>
          <p:cNvSpPr/>
          <p:nvPr/>
        </p:nvSpPr>
        <p:spPr>
          <a:xfrm>
            <a:off x="7818120" y="44256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Systémique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NOTRE SOLUTION — ARCHITECTURE SÉCURISÉE POUR SMA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0" y="1097280"/>
            <a:ext cx="365760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2743200" y="1097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 Agents Intelligents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" y="1965960"/>
            <a:ext cx="1965960" cy="1463040"/>
          </a:xfrm>
          <a:prstGeom prst="rect">
            <a:avLst/>
          </a:prstGeom>
          <a:solidFill>
            <a:srgbClr val="0A1120"/>
          </a:solidFill>
          <a:ln w="19050">
            <a:solidFill>
              <a:srgbClr val="1D4ED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19659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36576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Contrôle</a:t>
            </a:r>
            <a:r>
              <a:rPr lang="en-US" sz="1050" b="1" dirty="0">
                <a:solidFill>
                  <a:srgbClr val="FFFFFF"/>
                </a:solidFill>
              </a:rPr>
              <a:t> RBAC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Vérification pré-exécution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2651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Validation syntaxique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28986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Filtrage des params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Latence &lt; 200ms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23160" y="1965960"/>
            <a:ext cx="1965960" cy="1463040"/>
          </a:xfrm>
          <a:prstGeom prst="rect">
            <a:avLst/>
          </a:prstGeom>
          <a:solidFill>
            <a:srgbClr val="0A1120"/>
          </a:solidFill>
          <a:ln w="190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2"/>
          <p:cNvSpPr/>
          <p:nvPr/>
        </p:nvSpPr>
        <p:spPr>
          <a:xfrm>
            <a:off x="2423160" y="1965960"/>
            <a:ext cx="196596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251460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Supervision Temps Réel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1460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Dashboard Streamlit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14600" y="2651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Flux d'actions live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514600" y="28986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Alertes visuelles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514600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Logs MongoDB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1965960"/>
            <a:ext cx="1965960" cy="1463040"/>
          </a:xfrm>
          <a:prstGeom prst="rect">
            <a:avLst/>
          </a:prstGeom>
          <a:solidFill>
            <a:srgbClr val="0A1120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2" name="Shape 19"/>
          <p:cNvSpPr/>
          <p:nvPr/>
        </p:nvSpPr>
        <p:spPr>
          <a:xfrm>
            <a:off x="4754880" y="1965960"/>
            <a:ext cx="1965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0"/>
          <p:cNvSpPr/>
          <p:nvPr/>
        </p:nvSpPr>
        <p:spPr>
          <a:xfrm>
            <a:off x="484632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</a:rPr>
              <a:t>Détection</a:t>
            </a:r>
            <a:r>
              <a:rPr lang="en-US" sz="1050" b="1" dirty="0">
                <a:solidFill>
                  <a:srgbClr val="FFFFFF"/>
                </a:solidFill>
              </a:rPr>
              <a:t> d'Anomalies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4632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Règle </a:t>
            </a:r>
            <a:r>
              <a:rPr lang="en-US" sz="950" dirty="0" err="1">
                <a:solidFill>
                  <a:srgbClr val="CBD5E1"/>
                </a:solidFill>
              </a:rPr>
              <a:t>fréquence</a:t>
            </a:r>
            <a:r>
              <a:rPr lang="en-US" sz="950" dirty="0">
                <a:solidFill>
                  <a:srgbClr val="CBD5E1"/>
                </a:solidFill>
              </a:rPr>
              <a:t> (&gt;5/60s)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651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Incohérence de rôle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46320" y="28986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Pattern malveillant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46320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Seuils configurables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03720" y="1965960"/>
            <a:ext cx="1965960" cy="1463040"/>
          </a:xfrm>
          <a:prstGeom prst="rect">
            <a:avLst/>
          </a:prstGeom>
          <a:solidFill>
            <a:srgbClr val="0A1120"/>
          </a:solidFill>
          <a:ln w="1905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9" name="Shape 26"/>
          <p:cNvSpPr/>
          <p:nvPr/>
        </p:nvSpPr>
        <p:spPr>
          <a:xfrm>
            <a:off x="6903720" y="1965960"/>
            <a:ext cx="19659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7"/>
          <p:cNvSpPr/>
          <p:nvPr/>
        </p:nvSpPr>
        <p:spPr>
          <a:xfrm>
            <a:off x="6995160" y="1965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Gestion des Incidents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95160" y="24048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Alerte (log + notif)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995160" y="2651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Limitation (throttle)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95160" y="28986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Suspension agent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995160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· Kill Switch global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429000" y="1783080"/>
            <a:ext cx="0" cy="182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6" name="Shape 33"/>
          <p:cNvSpPr/>
          <p:nvPr/>
        </p:nvSpPr>
        <p:spPr>
          <a:xfrm>
            <a:off x="5715000" y="1783080"/>
            <a:ext cx="0" cy="182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Shape 34"/>
          <p:cNvSpPr/>
          <p:nvPr/>
        </p:nvSpPr>
        <p:spPr>
          <a:xfrm>
            <a:off x="274320" y="3547872"/>
            <a:ext cx="8595360" cy="521208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8" name="Text 35"/>
          <p:cNvSpPr/>
          <p:nvPr/>
        </p:nvSpPr>
        <p:spPr>
          <a:xfrm>
            <a:off x="457200" y="3547872"/>
            <a:ext cx="8229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0B981"/>
                </a:solidFill>
              </a:rPr>
              <a:t>✦  Principe directeur : "Security by Design" — la sécurité intégrée à la conception, non ajoutée a posteriori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274320" y="4160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4 scénarios d'évaluation :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423160" y="416052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D2035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1" name="Text 38"/>
          <p:cNvSpPr/>
          <p:nvPr/>
        </p:nvSpPr>
        <p:spPr>
          <a:xfrm>
            <a:off x="2423160" y="4160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① Fonctionnement normal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087368" y="416052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D2035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3" name="Text 40"/>
          <p:cNvSpPr/>
          <p:nvPr/>
        </p:nvSpPr>
        <p:spPr>
          <a:xfrm>
            <a:off x="4087368" y="4160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② Action interdite (RBAC)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751576" y="416052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D2035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5" name="Text 42"/>
          <p:cNvSpPr/>
          <p:nvPr/>
        </p:nvSpPr>
        <p:spPr>
          <a:xfrm>
            <a:off x="5751576" y="4160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③ Dérive comportementale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415784" y="416052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D2035"/>
          </a:solidFill>
          <a:ln w="1016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7" name="Text 44"/>
          <p:cNvSpPr/>
          <p:nvPr/>
        </p:nvSpPr>
        <p:spPr>
          <a:xfrm>
            <a:off x="7415784" y="416052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</a:rPr>
              <a:t>④ Injection de prompt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NOTRE APPROCHE VS. SOLUTIONS EXISTANTES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0116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</a:rPr>
              <a:t>Critère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078992"/>
            <a:ext cx="288036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2468880" y="10789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Solutions existantes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1078992"/>
            <a:ext cx="3337560" cy="38404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5440680" y="10789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Notre 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2011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DBFE"/>
                </a:solidFill>
              </a:rPr>
              <a:t>Contrôle d'accès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536192"/>
            <a:ext cx="288036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2606040" y="153619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RBAC/ABAC isolé,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sans couche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1536192"/>
            <a:ext cx="333756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3"/>
          <p:cNvSpPr/>
          <p:nvPr/>
        </p:nvSpPr>
        <p:spPr>
          <a:xfrm>
            <a:off x="5577840" y="153619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RBAC intégré au checkpoint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pré-exécution de chaque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58568"/>
            <a:ext cx="2011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411480" y="225856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DBFE"/>
                </a:solidFill>
              </a:rPr>
              <a:t>Détection anomalies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2258568"/>
            <a:ext cx="288036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7"/>
          <p:cNvSpPr/>
          <p:nvPr/>
        </p:nvSpPr>
        <p:spPr>
          <a:xfrm>
            <a:off x="2606040" y="225856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Règles ou ML séparés,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on appliqués aux agents LLM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680" y="2258568"/>
            <a:ext cx="333756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1" name="Text 19"/>
          <p:cNvSpPr/>
          <p:nvPr/>
        </p:nvSpPr>
        <p:spPr>
          <a:xfrm>
            <a:off x="5577840" y="225856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Module de </a:t>
            </a:r>
            <a:r>
              <a:rPr lang="en-US" sz="1050" dirty="0" err="1">
                <a:solidFill>
                  <a:srgbClr val="14532D"/>
                </a:solidFill>
              </a:rPr>
              <a:t>détection</a:t>
            </a:r>
            <a:r>
              <a:rPr lang="en-US" sz="1050" dirty="0">
                <a:solidFill>
                  <a:srgbClr val="14532D"/>
                </a:solidFill>
              </a:rPr>
              <a:t> </a:t>
            </a:r>
            <a:r>
              <a:rPr lang="en-US" sz="1050" dirty="0" err="1">
                <a:solidFill>
                  <a:srgbClr val="14532D"/>
                </a:solidFill>
              </a:rPr>
              <a:t>dédié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2011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Text 21"/>
          <p:cNvSpPr/>
          <p:nvPr/>
        </p:nvSpPr>
        <p:spPr>
          <a:xfrm>
            <a:off x="411480" y="29809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DBFE"/>
                </a:solidFill>
              </a:rPr>
              <a:t>Réponse aux incidents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2980944"/>
            <a:ext cx="288036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3"/>
          <p:cNvSpPr/>
          <p:nvPr/>
        </p:nvSpPr>
        <p:spPr>
          <a:xfrm>
            <a:off x="2606040" y="298094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Intervention manuelle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a posteriori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40680" y="2980944"/>
            <a:ext cx="333756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Text 25"/>
          <p:cNvSpPr/>
          <p:nvPr/>
        </p:nvSpPr>
        <p:spPr>
          <a:xfrm>
            <a:off x="5577840" y="2980944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Réponse automatique graduée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alerte → limitation → suspension → kill switch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2011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7"/>
          <p:cNvSpPr/>
          <p:nvPr/>
        </p:nvSpPr>
        <p:spPr>
          <a:xfrm>
            <a:off x="411480" y="37033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DBFE"/>
                </a:solidFill>
              </a:rPr>
              <a:t>Auditabilité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3703320"/>
            <a:ext cx="288036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1" name="Text 29"/>
          <p:cNvSpPr/>
          <p:nvPr/>
        </p:nvSpPr>
        <p:spPr>
          <a:xfrm>
            <a:off x="2606040" y="37033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Logs applicatifs génériques,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non structurés pour agents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3703320"/>
            <a:ext cx="333756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3" name="Text 31"/>
          <p:cNvSpPr/>
          <p:nvPr/>
        </p:nvSpPr>
        <p:spPr>
          <a:xfrm>
            <a:off x="5577840" y="370332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Log immutable par action avec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agent_id, rôle, résultat RBAC, timestamp 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425696"/>
            <a:ext cx="20116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411480" y="442569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DBFE"/>
                </a:solidFill>
              </a:rPr>
              <a:t>Défense anti-injection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425696"/>
            <a:ext cx="288036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Text 35"/>
          <p:cNvSpPr/>
          <p:nvPr/>
        </p:nvSpPr>
        <p:spPr>
          <a:xfrm>
            <a:off x="2606040" y="442569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Filtres externes,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1D1D"/>
                </a:solidFill>
              </a:rPr>
              <a:t>contournables à &gt;90%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40680" y="4425696"/>
            <a:ext cx="333756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7"/>
          <p:cNvSpPr/>
          <p:nvPr/>
        </p:nvSpPr>
        <p:spPr>
          <a:xfrm>
            <a:off x="5577840" y="4425696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Validation des paramètres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</a:rPr>
              <a:t>intégrée au module de contrôle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PERSPECTIVES — EXTENSIONS FUTURES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1664208"/>
            <a:ext cx="7498080" cy="45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Shape 3"/>
          <p:cNvSpPr/>
          <p:nvPr/>
        </p:nvSpPr>
        <p:spPr>
          <a:xfrm>
            <a:off x="960120" y="1527048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2011680" cy="2852928"/>
          </a:xfrm>
          <a:prstGeom prst="rect">
            <a:avLst/>
          </a:prstGeom>
          <a:solidFill>
            <a:srgbClr val="0A1120"/>
          </a:solidFill>
          <a:ln w="1524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20116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3268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pour la Détection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43230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Isolation Forests &amp; Autoencoders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90779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Détection de dérives comportementales subtiles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Réduction des faux positifs vs règles statiques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4453128"/>
            <a:ext cx="2011680" cy="320040"/>
          </a:xfrm>
          <a:prstGeom prst="rect">
            <a:avLst/>
          </a:prstGeom>
          <a:solidFill>
            <a:srgbClr val="091020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5" name="Text 12"/>
          <p:cNvSpPr/>
          <p:nvPr/>
        </p:nvSpPr>
        <p:spPr>
          <a:xfrm>
            <a:off x="438912" y="4453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891B2"/>
                </a:solidFill>
              </a:rPr>
              <a:t>Adresse la limite #3 — règles statiques insuffisantes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08960" y="152704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4"/>
          <p:cNvSpPr/>
          <p:nvPr/>
        </p:nvSpPr>
        <p:spPr>
          <a:xfrm>
            <a:off x="2514600" y="1920240"/>
            <a:ext cx="2011680" cy="2852928"/>
          </a:xfrm>
          <a:prstGeom prst="rect">
            <a:avLst/>
          </a:prstGeom>
          <a:solidFill>
            <a:srgbClr val="0A1120"/>
          </a:solidFill>
          <a:ln w="1524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Shape 15"/>
          <p:cNvSpPr/>
          <p:nvPr/>
        </p:nvSpPr>
        <p:spPr>
          <a:xfrm>
            <a:off x="2514600" y="192024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9" name="Text 16"/>
          <p:cNvSpPr/>
          <p:nvPr/>
        </p:nvSpPr>
        <p:spPr>
          <a:xfrm>
            <a:off x="251460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08152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RBAC + ABAC Hybride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06040" y="243230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Contraintes temporelles et géographiques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606040" y="290779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Restrictions selon la fréquence récente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606040" y="338328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Politiques contextuelles sans rupture architecturale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14600" y="4453128"/>
            <a:ext cx="2011680" cy="320040"/>
          </a:xfrm>
          <a:prstGeom prst="rect">
            <a:avLst/>
          </a:prstGeom>
          <a:solidFill>
            <a:srgbClr val="09102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5" name="Text 22"/>
          <p:cNvSpPr/>
          <p:nvPr/>
        </p:nvSpPr>
        <p:spPr>
          <a:xfrm>
            <a:off x="2587752" y="4453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3AED"/>
                </a:solidFill>
              </a:rPr>
              <a:t>Adresse la limite #1 — RBAC sans contexte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257800" y="1527048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7" name="Shape 24"/>
          <p:cNvSpPr/>
          <p:nvPr/>
        </p:nvSpPr>
        <p:spPr>
          <a:xfrm>
            <a:off x="4663440" y="1920240"/>
            <a:ext cx="2011680" cy="2852928"/>
          </a:xfrm>
          <a:prstGeom prst="rect">
            <a:avLst/>
          </a:prstGeom>
          <a:solidFill>
            <a:srgbClr val="0A1120"/>
          </a:solidFill>
          <a:ln w="15240">
            <a:solidFill>
              <a:srgbClr val="05966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8" name="Shape 25"/>
          <p:cNvSpPr/>
          <p:nvPr/>
        </p:nvSpPr>
        <p:spPr>
          <a:xfrm>
            <a:off x="4663440" y="1920240"/>
            <a:ext cx="20116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Text 26"/>
          <p:cNvSpPr/>
          <p:nvPr/>
        </p:nvSpPr>
        <p:spPr>
          <a:xfrm>
            <a:off x="466344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23036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Confiance Inter-Agents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54880" y="243230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Authentification des messages entre agents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54880" y="290779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Résistance aux injections agent-to-agent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754880" y="338328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Protocole de vérification de l'identité source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663440" y="4453128"/>
            <a:ext cx="2011680" cy="320040"/>
          </a:xfrm>
          <a:prstGeom prst="rect">
            <a:avLst/>
          </a:prstGeom>
          <a:solidFill>
            <a:srgbClr val="091020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5" name="Text 32"/>
          <p:cNvSpPr/>
          <p:nvPr/>
        </p:nvSpPr>
        <p:spPr>
          <a:xfrm>
            <a:off x="4736592" y="4453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59669"/>
                </a:solidFill>
              </a:rPr>
              <a:t>Adresse la limite #4 — confiance implicite SMA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406640" y="1527048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7" name="Shape 34"/>
          <p:cNvSpPr/>
          <p:nvPr/>
        </p:nvSpPr>
        <p:spPr>
          <a:xfrm>
            <a:off x="6812280" y="1920240"/>
            <a:ext cx="2011680" cy="2852928"/>
          </a:xfrm>
          <a:prstGeom prst="rect">
            <a:avLst/>
          </a:prstGeom>
          <a:solidFill>
            <a:srgbClr val="0A1120"/>
          </a:solidFill>
          <a:ln w="15240">
            <a:solidFill>
              <a:srgbClr val="D9770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8" name="Shape 35"/>
          <p:cNvSpPr/>
          <p:nvPr/>
        </p:nvSpPr>
        <p:spPr>
          <a:xfrm>
            <a:off x="6812280" y="1920240"/>
            <a:ext cx="20116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9" name="Text 36"/>
          <p:cNvSpPr/>
          <p:nvPr/>
        </p:nvSpPr>
        <p:spPr>
          <a:xfrm>
            <a:off x="681228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37920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Benchmarks &amp; Validation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03720" y="243230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Évaluation sur AgentDojo &amp; WASP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903720" y="290779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Comparaison objective avec la littérature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903720" y="338328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→  Publication et contribution open source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812280" y="4453128"/>
            <a:ext cx="2011680" cy="320040"/>
          </a:xfrm>
          <a:prstGeom prst="rect">
            <a:avLst/>
          </a:prstGeom>
          <a:solidFill>
            <a:srgbClr val="091020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45" name="Text 42"/>
          <p:cNvSpPr/>
          <p:nvPr/>
        </p:nvSpPr>
        <p:spPr>
          <a:xfrm>
            <a:off x="6885432" y="44531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97706"/>
                </a:solidFill>
              </a:rPr>
              <a:t>Valider et positionner l'approche dans la recherche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RÉFÉRENCES BIBLIOGRAPHIQUES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Fondements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457200" y="16184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[1] Russell &amp; Norvig (2021). Artificial Intelligence: A Modern Approach, 4th ed. Pearson.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2267712"/>
            <a:ext cx="2651760" cy="640080"/>
          </a:xfrm>
          <a:prstGeom prst="rect">
            <a:avLst/>
          </a:prstGeom>
          <a:solidFill>
            <a:srgbClr val="EEF4FB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0" name="Text 7"/>
          <p:cNvSpPr/>
          <p:nvPr/>
        </p:nvSpPr>
        <p:spPr>
          <a:xfrm>
            <a:off x="457200" y="231343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[2] Wooldridge (2009). An Introduction to MultiAgent Systems, 2nd ed. Wiley.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296265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2" name="Text 9"/>
          <p:cNvSpPr/>
          <p:nvPr/>
        </p:nvSpPr>
        <p:spPr>
          <a:xfrm>
            <a:off x="457200" y="3008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[3] Ferraiolo &amp; Kuhn (1992). Role-Based Access Controls. NIST.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4" name="Text 11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Normes &amp; Standards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157276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3"/>
          <p:cNvSpPr/>
          <p:nvPr/>
        </p:nvSpPr>
        <p:spPr>
          <a:xfrm>
            <a:off x="3337560" y="16184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[4] ANSI/INCITS 359-2004. Role Based Access Control.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6120" y="2267712"/>
            <a:ext cx="2651760" cy="640080"/>
          </a:xfrm>
          <a:prstGeom prst="rect">
            <a:avLst/>
          </a:prstGeom>
          <a:solidFill>
            <a:srgbClr val="EEF4FB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5"/>
          <p:cNvSpPr/>
          <p:nvPr/>
        </p:nvSpPr>
        <p:spPr>
          <a:xfrm>
            <a:off x="3337560" y="231343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[5] NIST (2023). AI Risk Management Framework.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46120" y="296265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7"/>
          <p:cNvSpPr/>
          <p:nvPr/>
        </p:nvSpPr>
        <p:spPr>
          <a:xfrm>
            <a:off x="3337560" y="3008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[6] ISO/IEC 42001:2023. AI Management System.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46120" y="3657600"/>
            <a:ext cx="2651760" cy="640080"/>
          </a:xfrm>
          <a:prstGeom prst="rect">
            <a:avLst/>
          </a:prstGeom>
          <a:solidFill>
            <a:srgbClr val="EEF4FB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19"/>
          <p:cNvSpPr/>
          <p:nvPr/>
        </p:nvSpPr>
        <p:spPr>
          <a:xfrm>
            <a:off x="3337560" y="3703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[7] OWASP (2025). Top 10 for LLM Applications.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1143000"/>
            <a:ext cx="2651760" cy="365760"/>
          </a:xfrm>
          <a:prstGeom prst="rect">
            <a:avLst/>
          </a:prstGeom>
          <a:solidFill>
            <a:srgbClr val="0A4A5C"/>
          </a:solidFill>
          <a:ln w="12700">
            <a:solidFill>
              <a:srgbClr val="0A4A5C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4" name="Text 21"/>
          <p:cNvSpPr/>
          <p:nvPr/>
        </p:nvSpPr>
        <p:spPr>
          <a:xfrm>
            <a:off x="612648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Recherche Récente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26480" y="1572768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6" name="Text 23"/>
          <p:cNvSpPr/>
          <p:nvPr/>
        </p:nvSpPr>
        <p:spPr>
          <a:xfrm>
            <a:off x="6217920" y="161848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[8] Nasr et al. (2025). Adaptive Attacks Bypass LLM Defenses. arXiv:2510.09023.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26480" y="2267712"/>
            <a:ext cx="2651760" cy="640080"/>
          </a:xfrm>
          <a:prstGeom prst="rect">
            <a:avLst/>
          </a:prstGeom>
          <a:solidFill>
            <a:srgbClr val="EEF4FB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8" name="Text 25"/>
          <p:cNvSpPr/>
          <p:nvPr/>
        </p:nvSpPr>
        <p:spPr>
          <a:xfrm>
            <a:off x="6217920" y="231343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[9] Liu et al. (2025). Multi-Agent LLM Defense. arXiv:2509.14285.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26480" y="296265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0" name="Text 27"/>
          <p:cNvSpPr/>
          <p:nvPr/>
        </p:nvSpPr>
        <p:spPr>
          <a:xfrm>
            <a:off x="6217920" y="30083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[10] Ferrag et al. (2026). Agentic AI &amp; Cybersecurity. arXiv:2601.05293.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26480" y="3657600"/>
            <a:ext cx="2651760" cy="640080"/>
          </a:xfrm>
          <a:prstGeom prst="rect">
            <a:avLst/>
          </a:prstGeom>
          <a:solidFill>
            <a:srgbClr val="EEF4FB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2" name="Text 29"/>
          <p:cNvSpPr/>
          <p:nvPr/>
        </p:nvSpPr>
        <p:spPr>
          <a:xfrm>
            <a:off x="6217920" y="3703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[11] Ahmad et al. (2025). Securing Agentic AI — MAAIS. arXiv:2512.18043.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126480" y="4352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0F0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34" name="Text 31"/>
          <p:cNvSpPr/>
          <p:nvPr/>
        </p:nvSpPr>
        <p:spPr>
          <a:xfrm>
            <a:off x="6217920" y="4398264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[12] Greshake et al. (2023). Indirect Prompt Injection. arXiv:2302.12173.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1054</Words>
  <Application>Microsoft Office PowerPoint</Application>
  <PresentationFormat>On-screen Show (16:9)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Yoshi Mario</cp:lastModifiedBy>
  <cp:revision>2</cp:revision>
  <dcterms:created xsi:type="dcterms:W3CDTF">2026-05-15T10:37:42Z</dcterms:created>
  <dcterms:modified xsi:type="dcterms:W3CDTF">2026-06-16T16:17:20Z</dcterms:modified>
</cp:coreProperties>
</file>